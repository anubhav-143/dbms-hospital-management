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758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AD6EE87-EBD5-4F12-A48A-63ACA297AC8F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8003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143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8509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7171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8795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6776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0042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7513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8956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6088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8862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94306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31081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58981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840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4CD73815-2707-4475-8F1A-B873CB631BB4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60946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2A4AFB99-0EAB-4182-AFF8-E214C82A68F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91420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571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44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  <p:sldLayoutId id="2147483852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914400"/>
            <a:ext cx="6400800" cy="3291840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43400" y="1143000"/>
            <a:ext cx="45720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00500" y="1417320"/>
            <a:ext cx="114300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3317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30632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3520440"/>
            <a:ext cx="2743200" cy="27432"/>
          </a:xfrm>
          <a:prstGeom prst="rect">
            <a:avLst/>
          </a:prstGeom>
          <a:solidFill>
            <a:srgbClr val="90A4C0"/>
          </a:solidFill>
          <a:ln w="12700">
            <a:solidFill>
              <a:srgbClr val="90A4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6118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Anubhav Sachan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hospitals need a digital system?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023360" cy="356616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673352"/>
            <a:ext cx="3749040" cy="420624"/>
          </a:xfrm>
          <a:prstGeom prst="rect">
            <a:avLst/>
          </a:prstGeom>
          <a:solidFill>
            <a:srgbClr val="FFEBEE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007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record retrieval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194560"/>
            <a:ext cx="3749040" cy="420624"/>
          </a:xfrm>
          <a:prstGeom prst="rect">
            <a:avLst/>
          </a:prstGeom>
          <a:solidFill>
            <a:srgbClr val="FFEBEE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21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duplication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715768"/>
            <a:ext cx="3749040" cy="420624"/>
          </a:xfrm>
          <a:prstGeom prst="rect">
            <a:avLst/>
          </a:prstGeom>
          <a:solidFill>
            <a:srgbClr val="FFEBEE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manage appointments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236976"/>
            <a:ext cx="3749040" cy="420624"/>
          </a:xfrm>
          <a:prstGeom prst="rect">
            <a:avLst/>
          </a:prstGeom>
          <a:solidFill>
            <a:srgbClr val="FFEBEE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644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errors &amp; miscalculations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758184"/>
            <a:ext cx="3749040" cy="420624"/>
          </a:xfrm>
          <a:prstGeom prst="rect">
            <a:avLst/>
          </a:prstGeom>
          <a:solidFill>
            <a:srgbClr val="FFEBEE"/>
          </a:solidFill>
          <a:ln w="6350">
            <a:solidFill>
              <a:srgbClr val="FFC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856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get lost or damaged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2834640"/>
            <a:ext cx="45720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263165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846320" y="1097280"/>
            <a:ext cx="4023360" cy="356616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Digital System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1673352"/>
            <a:ext cx="374904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7007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data access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2194560"/>
            <a:ext cx="374904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221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duplication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2715768"/>
            <a:ext cx="374904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83480" y="3236976"/>
            <a:ext cx="374904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2644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billing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83480" y="3758184"/>
            <a:ext cx="3749040" cy="420624"/>
          </a:xfrm>
          <a:prstGeom prst="rect">
            <a:avLst/>
          </a:prstGeom>
          <a:solidFill>
            <a:srgbClr val="F1F8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7856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organized storage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HMS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database-driven system for hospitals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828800" cy="7772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20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201168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60320" y="1920240"/>
            <a:ext cx="1828800" cy="77724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920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201168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1828800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920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01168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66560" y="1920240"/>
            <a:ext cx="18288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920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71800"/>
            <a:ext cx="1965960" cy="7315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42900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all hospital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297180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68880" y="2971800"/>
            <a:ext cx="1965960" cy="7315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Retrieval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342900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any record instantly using optimized SQL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297180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2971800"/>
            <a:ext cx="1965960" cy="7315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Organized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342900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all users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2971800"/>
            <a:ext cx="1965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66560" y="2971800"/>
            <a:ext cx="1965960" cy="7315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063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Design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342900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tables handle growing hospital 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design: Frontend → Backend → Database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828800" cy="3520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670048"/>
            <a:ext cx="155448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Desktop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21488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60320" y="1143000"/>
            <a:ext cx="1828800" cy="35204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60320" y="20848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97480" y="2670048"/>
            <a:ext cx="155448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21488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663440" y="1143000"/>
            <a:ext cx="1828800" cy="3520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63440" y="20848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2670048"/>
            <a:ext cx="155448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(Python)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1488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766560" y="1143000"/>
            <a:ext cx="1828800" cy="352044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6656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66560" y="20848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03720" y="2670048"/>
            <a:ext cx="155448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modules connected to the central HMS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566160" y="2103120"/>
            <a:ext cx="2011680" cy="1371600"/>
          </a:xfrm>
          <a:prstGeom prst="ellipse">
            <a:avLst/>
          </a:prstGeom>
          <a:solidFill>
            <a:srgbClr val="0D2B6B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10312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371600"/>
            <a:ext cx="109728" cy="14630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Module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history,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2103120"/>
            <a:ext cx="1645920" cy="0"/>
          </a:xfrm>
          <a:prstGeom prst="line">
            <a:avLst/>
          </a:prstGeom>
          <a:noFill/>
          <a:ln w="12700">
            <a:solidFill>
              <a:srgbClr val="90A4C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309360" y="137160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371600"/>
            <a:ext cx="109728" cy="14630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Module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148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schedule, specialty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2103120"/>
            <a:ext cx="1828800" cy="0"/>
          </a:xfrm>
          <a:prstGeom prst="line">
            <a:avLst/>
          </a:prstGeom>
          <a:noFill/>
          <a:ln w="12700">
            <a:solidFill>
              <a:srgbClr val="90A4C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65760" y="310896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08960"/>
            <a:ext cx="109728" cy="1463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46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status, calendar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34640" y="3840480"/>
            <a:ext cx="1645920" cy="0"/>
          </a:xfrm>
          <a:prstGeom prst="line">
            <a:avLst/>
          </a:prstGeom>
          <a:noFill/>
          <a:ln w="12700">
            <a:solidFill>
              <a:srgbClr val="90A4C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309360" y="310896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3108960"/>
            <a:ext cx="109728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246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Module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3886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payments, reports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3840480"/>
            <a:ext cx="1828800" cy="0"/>
          </a:xfrm>
          <a:prstGeom prst="line">
            <a:avLst/>
          </a:prstGeom>
          <a:noFill/>
          <a:ln w="12700">
            <a:solidFill>
              <a:srgbClr val="90A4C0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core tables forming the HMS schema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2011680" cy="38404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252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6459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Patient_ID, Name, DOB, Gender, Contact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118872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88720"/>
            <a:ext cx="2011680" cy="38404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2252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6459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Doctor_ID, Name, Specialty, Contact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188720"/>
            <a:ext cx="20116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2252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6459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Appt_ID, Patient_ID, Doctor_ID, Date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18872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188720"/>
            <a:ext cx="201168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2252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16459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Treatment_ID, Patient_ID, Description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97180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71800"/>
            <a:ext cx="201168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0083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34290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Bill_ID, Patient_ID, Amount, Status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14600" y="297180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14600" y="2971800"/>
            <a:ext cx="201168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30083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06040" y="34290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Room_ID, Type, Status, Floor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97180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971800"/>
            <a:ext cx="201168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0083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34290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Admit_ID, Patient_ID, Room_ID, Date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03720" y="297180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03720" y="2971800"/>
            <a:ext cx="2011680" cy="384048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30083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95160" y="34290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Role, Username, Password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 — insert your diagram image here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1641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1554480" cy="64008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828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1412" y="1826527"/>
            <a:ext cx="1737360" cy="64008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3520440" y="1831396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828800"/>
            <a:ext cx="1554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828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0440" y="2606040"/>
            <a:ext cx="1737360" cy="6400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2606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3840480"/>
            <a:ext cx="173736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20440" y="3840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1965960"/>
            <a:ext cx="914400" cy="457200"/>
          </a:xfrm>
          <a:prstGeom prst="rect">
            <a:avLst/>
          </a:prstGeom>
          <a:solidFill>
            <a:srgbClr val="E8EEF5"/>
          </a:solidFill>
          <a:ln w="12700">
            <a:solidFill>
              <a:srgbClr val="90A4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49240" y="1965960"/>
            <a:ext cx="914400" cy="457200"/>
          </a:xfrm>
          <a:prstGeom prst="rect">
            <a:avLst/>
          </a:prstGeom>
          <a:solidFill>
            <a:srgbClr val="E8EEF5"/>
          </a:solidFill>
          <a:ln w="12700">
            <a:solidFill>
              <a:srgbClr val="90A4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2743200"/>
            <a:ext cx="914400" cy="457200"/>
          </a:xfrm>
          <a:prstGeom prst="rect">
            <a:avLst/>
          </a:prstGeom>
          <a:solidFill>
            <a:srgbClr val="E8EEF5"/>
          </a:solidFill>
          <a:ln w="12700">
            <a:solidFill>
              <a:srgbClr val="90A4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77440" y="3977640"/>
            <a:ext cx="914400" cy="457200"/>
          </a:xfrm>
          <a:prstGeom prst="rect">
            <a:avLst/>
          </a:prstGeom>
          <a:solidFill>
            <a:srgbClr val="E8EEF5"/>
          </a:solidFill>
          <a:ln w="12700">
            <a:solidFill>
              <a:srgbClr val="90A4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3977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03120" y="2148840"/>
            <a:ext cx="320040" cy="0"/>
          </a:xfrm>
          <a:prstGeom prst="line">
            <a:avLst/>
          </a:prstGeom>
          <a:noFill/>
          <a:ln w="19050">
            <a:solidFill>
              <a:srgbClr val="90A4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148840"/>
            <a:ext cx="228600" cy="0"/>
          </a:xfrm>
          <a:prstGeom prst="line">
            <a:avLst/>
          </a:prstGeom>
          <a:noFill/>
          <a:ln w="19050">
            <a:solidFill>
              <a:srgbClr val="90A4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7800" y="2148840"/>
            <a:ext cx="228600" cy="0"/>
          </a:xfrm>
          <a:prstGeom prst="line">
            <a:avLst/>
          </a:prstGeom>
          <a:noFill/>
          <a:ln w="19050">
            <a:solidFill>
              <a:srgbClr val="90A4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2148840"/>
            <a:ext cx="228600" cy="0"/>
          </a:xfrm>
          <a:prstGeom prst="line">
            <a:avLst/>
          </a:prstGeom>
          <a:noFill/>
          <a:ln w="19050">
            <a:solidFill>
              <a:srgbClr val="90A4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Insert your ER Diagram image here for best results →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5856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Entity: PATIENT  •  Connected to: Appointment, Treatment, Billing, Doctor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Explanation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between HMS entities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88720"/>
            <a:ext cx="91440" cy="7772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44168"/>
            <a:ext cx="1645920" cy="4572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441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Patient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4028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────────&lt; 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74920" y="1344168"/>
            <a:ext cx="1828800" cy="4572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344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Appointments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1371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can book multiple appointments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03120"/>
            <a:ext cx="91440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258568"/>
            <a:ext cx="1645920" cy="4572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2585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Doctor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40280" y="2286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────────&lt; 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74920" y="2258568"/>
            <a:ext cx="1828800" cy="4572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258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Appointments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handles many appointments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17520"/>
            <a:ext cx="9144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172968"/>
            <a:ext cx="164592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729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Patient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4028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────────&lt; 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74920" y="3172968"/>
            <a:ext cx="182880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172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Treatments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3200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can receive multiple treatments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931920"/>
            <a:ext cx="9144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087368"/>
            <a:ext cx="16459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0873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Admission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24028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────────&lt; 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74920" y="4087368"/>
            <a:ext cx="18288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40873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Room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95160" y="4114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admission is assigned one room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database to reduce redundancy and improve integrity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2606040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01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🗑️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Redundancy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duplicate data stored across multiple tables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14300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143000"/>
            <a:ext cx="2606040" cy="914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2801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383280" y="21488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Efficiency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6517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queries, less storage, better performance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14300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143000"/>
            <a:ext cx="260604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2801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17920" y="21488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6517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in one place reflect everywhere — no conflicts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Normalization ❌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3840480" cy="7315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9A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9A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+ Meds (mixed)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9A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Anubhav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Sharma, Para+Anti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84632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Normalization ✅</a:t>
            </a:r>
            <a:endParaRPr lang="en-US" sz="1200" dirty="0"/>
          </a:p>
        </p:txBody>
      </p:sp>
      <p:graphicFrame>
        <p:nvGraphicFramePr>
          <p:cNvPr id="2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4160520"/>
          <a:ext cx="3840480" cy="7315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Doctor_ID (FK)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6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Anubhav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 (1NF)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 — no repeating groups or arrays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E3F0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Each column must contain atomic (indivisible) values. No lists or sets in a single cell.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Violates 1NF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3749040" cy="109728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Anubhav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Paracetamol, Antibiotic, Ibuprofen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Cough Syrup, Vitamin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2976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Satisfies 1NF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286000"/>
          <a:ext cx="3474720" cy="12801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Anubhav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Paracetamol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Anubhav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Anubhav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Ibuprofen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3749040"/>
            <a:ext cx="8595360" cy="777240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Takeaway: Each row represents one patient-medicine pair. Data is atomic and no cell holds multiple values.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 (2NF)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partial dependencies — every column depends on the whole key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E3F0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Must be in 1NF + no non-key attribute should depend on only part of a composite primary key.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2NF — Partial Dependency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029200" cy="100584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Appt_ID (PK)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Doctor_ID (PK)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Doctor_Name ⚠️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9A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Sharma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Sharma  (duplicate!)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9"/>
          <p:cNvSpPr/>
          <p:nvPr/>
        </p:nvSpPr>
        <p:spPr>
          <a:xfrm>
            <a:off x="4572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2NF — Split into 2 tables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94760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Doctor_ID (FK)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347472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3794760"/>
          <a:ext cx="2743200" cy="640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Doctor_ID (PK)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Sharma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 (3NF)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transitive dependencies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E3F0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Must be in 2NF + no non-key attribute should depend on another non-key attribute (no A→B→C).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Transitive Dependency Example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9A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⚠️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9A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Uttar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Uttar Pradesh  ← redundant!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Patient_ID → City → State   (Transitive!)</a:t>
            </a:r>
            <a:endParaRPr lang="en-US" sz="1200" dirty="0"/>
          </a:p>
        </p:txBody>
      </p:sp>
      <p:sp>
        <p:nvSpPr>
          <p:cNvPr id="11" name="Text 10"/>
          <p:cNvSpPr/>
          <p:nvPr/>
        </p:nvSpPr>
        <p:spPr>
          <a:xfrm>
            <a:off x="45720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3NF — City moved to separate table</a:t>
            </a:r>
            <a:endParaRPr lang="en-US" sz="12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2743200" cy="640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City_ID (FK)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32918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4114800"/>
          <a:ext cx="3200400" cy="64008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Uttar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Normalized Tables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satisfy 1NF, 2NF, and 3NF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43000"/>
            <a:ext cx="2011680" cy="4572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691640"/>
            <a:ext cx="1920240" cy="411480"/>
          </a:xfrm>
          <a:prstGeom prst="rect">
            <a:avLst/>
          </a:prstGeom>
          <a:solidFill>
            <a:srgbClr val="E3F0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709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Patient_ID (PK)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DOB, Gender, City_ID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41448" y="1143000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1143000"/>
            <a:ext cx="2011680" cy="4572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87168" y="1691640"/>
            <a:ext cx="1920240" cy="411480"/>
          </a:xfrm>
          <a:prstGeom prst="rect">
            <a:avLst/>
          </a:prstGeom>
          <a:solidFill>
            <a:srgbClr val="E3F0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709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Doctor_ID (PK)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32888" y="26517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Specialty, Contact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08576" y="1143000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1143000"/>
            <a:ext cx="20116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54296" y="1691640"/>
            <a:ext cx="1920240" cy="411480"/>
          </a:xfrm>
          <a:prstGeom prst="rect">
            <a:avLst/>
          </a:prstGeom>
          <a:solidFill>
            <a:srgbClr val="E3F0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1709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Appt_ID (PK)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54296" y="2148840"/>
            <a:ext cx="192024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2167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Patient_ID, Doctor_ID (FK)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0016" y="26517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Time, Status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75704" y="1143000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75704" y="1143000"/>
            <a:ext cx="201168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5704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21424" y="1691640"/>
            <a:ext cx="1920240" cy="411480"/>
          </a:xfrm>
          <a:prstGeom prst="rect">
            <a:avLst/>
          </a:prstGeom>
          <a:solidFill>
            <a:srgbClr val="E3F0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8856" y="1709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Bill_ID (PK)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21424" y="2148840"/>
            <a:ext cx="192024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8856" y="2167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Patient_ID (FK)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67144" y="26517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Date, Status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tables are normalized up to 3NF — ensuring no redundancy and full data integrity."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Operations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SQL commands used in the HMS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1600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43000"/>
            <a:ext cx="1600200" cy="7315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325880"/>
            <a:ext cx="685800" cy="68580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25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" y="21031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2578608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new tables and schemas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Patient (...)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1143000"/>
            <a:ext cx="1600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0" y="1143000"/>
            <a:ext cx="1600200" cy="7315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1325880"/>
            <a:ext cx="685800" cy="6858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325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11680" y="21031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84832" y="2578608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new records to tables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Patient VALUES(...)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49040" y="1143000"/>
            <a:ext cx="1600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1143000"/>
            <a:ext cx="1600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1325880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1325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49040" y="21031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22192" y="2578608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 existing records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Patient SET Name=...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1143000"/>
            <a:ext cx="1600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1143000"/>
            <a:ext cx="160020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1325880"/>
            <a:ext cx="685800" cy="6858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1325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86400" y="21031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59552" y="2578608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records from tables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Patient WHERE...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1143000"/>
            <a:ext cx="1600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1143000"/>
            <a:ext cx="16002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0960" y="132588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1325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23760" y="21031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96912" y="2578608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and retrieve 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Patient WHERE...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Operations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related tables using SQL JOINs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26517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43000"/>
            <a:ext cx="2651760" cy="914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618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1874520"/>
            <a:ext cx="1234440" cy="1005840"/>
          </a:xfrm>
          <a:prstGeom prst="ellipse">
            <a:avLst/>
          </a:prstGeom>
          <a:solidFill>
            <a:srgbClr val="B3CDE0">
              <a:alpha val="80000"/>
            </a:srgbClr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7592" y="1874520"/>
            <a:ext cx="1234440" cy="1005840"/>
          </a:xfrm>
          <a:prstGeom prst="ellipse">
            <a:avLst/>
          </a:prstGeom>
          <a:solidFill>
            <a:srgbClr val="B3CDE0">
              <a:alpha val="80000"/>
            </a:srgbClr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9992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matching rows in BOTH tables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2468880" cy="777240"/>
          </a:xfrm>
          <a:prstGeom prst="rect">
            <a:avLst/>
          </a:prstGeom>
          <a:solidFill>
            <a:srgbClr val="E3F0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40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∩ Appointment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143000"/>
            <a:ext cx="26517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143000"/>
            <a:ext cx="2651760" cy="914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2618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49040" y="1874520"/>
            <a:ext cx="1234440" cy="1005840"/>
          </a:xfrm>
          <a:prstGeom prst="ellipse">
            <a:avLst/>
          </a:prstGeom>
          <a:solidFill>
            <a:srgbClr val="0288D1">
              <a:alpha val="80000"/>
            </a:srgbClr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33672" y="1874520"/>
            <a:ext cx="1234440" cy="1005840"/>
          </a:xfrm>
          <a:prstGeom prst="ellipse">
            <a:avLst/>
          </a:prstGeom>
          <a:solidFill>
            <a:srgbClr val="B3D9E0">
              <a:alpha val="80000"/>
            </a:srgbClr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29992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LEFT table + matching from right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794760"/>
            <a:ext cx="2468880" cy="777240"/>
          </a:xfrm>
          <a:prstGeom prst="rect">
            <a:avLst/>
          </a:prstGeom>
          <a:solidFill>
            <a:srgbClr val="E3F0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840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Patients (+ Appt)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43000"/>
            <a:ext cx="26517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143000"/>
            <a:ext cx="265176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2618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75120" y="1874520"/>
            <a:ext cx="1234440" cy="1005840"/>
          </a:xfrm>
          <a:prstGeom prst="ellipse">
            <a:avLst/>
          </a:prstGeom>
          <a:solidFill>
            <a:srgbClr val="B3CDE0">
              <a:alpha val="80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9752" y="1874520"/>
            <a:ext cx="1234440" cy="1005840"/>
          </a:xfrm>
          <a:prstGeom prst="ellipse">
            <a:avLst/>
          </a:prstGeom>
          <a:solidFill>
            <a:srgbClr val="1565C0">
              <a:alpha val="80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6384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29992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RIGHT table + matching from left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3794760"/>
            <a:ext cx="2468880" cy="777240"/>
          </a:xfrm>
          <a:prstGeom prst="rect">
            <a:avLst/>
          </a:prstGeom>
          <a:solidFill>
            <a:srgbClr val="E3F0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3840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Appointments (+ Patient)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SQL Query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patient–doctor pairs via JOIN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8595360" cy="640080"/>
          </a:xfrm>
          <a:prstGeom prst="rect">
            <a:avLst/>
          </a:prstGeom>
          <a:solidFill>
            <a:srgbClr val="E3F0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which Doctor is treating which Patient via their Appointments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8595360" cy="2148840"/>
          </a:xfrm>
          <a:prstGeom prst="rect">
            <a:avLst/>
          </a:prstGeom>
          <a:solidFill>
            <a:srgbClr val="1E2A3A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65960"/>
            <a:ext cx="81381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p.Name AS Patient_Name,  d.Name AS Doctor_Name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</a:t>
            </a:r>
            <a:r>
              <a:rPr lang="en-US" sz="13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p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 a  </a:t>
            </a:r>
            <a:r>
              <a:rPr lang="en-US" sz="1300" b="1" dirty="0">
                <a:solidFill>
                  <a:srgbClr val="FFA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 </a:t>
            </a: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p.Patient_ID = a.Patient_ID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 d  </a:t>
            </a:r>
            <a:r>
              <a:rPr lang="en-US" sz="1300" b="1" dirty="0">
                <a:solidFill>
                  <a:srgbClr val="FFA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 </a:t>
            </a: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a.Doctor_ID = d.Doctor_ID;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Sample Output: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079602"/>
              </p:ext>
            </p:extLst>
          </p:nvPr>
        </p:nvGraphicFramePr>
        <p:xfrm>
          <a:off x="1828800" y="4063535"/>
          <a:ext cx="4572000" cy="777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Anubhav Sachan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R. Sharma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Mehta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A. Gupta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3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Database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basic SQL — enterprise-level capabilities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88720"/>
            <a:ext cx="420624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371600"/>
            <a:ext cx="685800" cy="6858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1371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181051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Auto-execute SQL on INSERT/UPDATE/DELETE events. Example: Auto-update bill when treatment is added.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4206240" cy="7315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371600"/>
            <a:ext cx="685800" cy="68580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715000" y="1371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15000" y="181051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SQL blocks executed on demand. Encapsulate business logic inside the DB.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08960"/>
            <a:ext cx="4206240" cy="7315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291840"/>
            <a:ext cx="685800" cy="6858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91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3291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4440" y="373075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tables from complex queries. Simplify access and add security layer.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1089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108960"/>
            <a:ext cx="420624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329184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291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715000" y="3291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715000" y="373075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data retrieval on frequently searched columns like Patient_ID, Name.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users have different permissions in HMS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43000"/>
            <a:ext cx="2606040" cy="100584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704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👑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677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system control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15768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43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 users &amp; roles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218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 all reports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666744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6941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Database configuration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142232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1696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logs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1143000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143000"/>
            <a:ext cx="2606040" cy="10058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1704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🩺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200400" y="17556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91840" y="2240280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2677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assigned patients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2715768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2743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Update treatment records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3191256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218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 test results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3666744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6941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appointments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91840" y="4142232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41696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Write prescriptions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1143000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1143000"/>
            <a:ext cx="2606040" cy="10058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11704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🧑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035040" y="17556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26480" y="2240280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22677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own records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26480" y="2715768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2743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Book appointments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26480" y="3191256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3218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 billing status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26480" y="3666744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36941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prescriptions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26480" y="4142232"/>
            <a:ext cx="2423160" cy="402336"/>
          </a:xfrm>
          <a:prstGeom prst="rect">
            <a:avLst/>
          </a:prstGeom>
          <a:solidFill>
            <a:srgbClr val="F4F8FF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9632" y="41696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Update contact info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HMS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of a digital Hospital Management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88720"/>
            <a:ext cx="91440" cy="16459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594360" cy="59436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3716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Data Access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17830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any patient record, doctor info, or billing data in milliseconds using indexed SQL queries.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188720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188720"/>
            <a:ext cx="91440" cy="16459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417320"/>
            <a:ext cx="594360" cy="59436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13716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Errors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17830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validations, foreign key constraints, and triggers prevent data inconsistencies and human errors.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188720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188720"/>
            <a:ext cx="91440" cy="1645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41732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13716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System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17830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ensures only authorized users can view or modify sensitive medical information.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063240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063240"/>
            <a:ext cx="91440" cy="1645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291840"/>
            <a:ext cx="594360" cy="594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91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3246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36576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 can grow with the hospital — add new departments, doctors, or patients seamlessly.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3063240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3063240"/>
            <a:ext cx="91440" cy="16459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3291840"/>
            <a:ext cx="594360" cy="5943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291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114800" y="3246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14800" y="36576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paperwork, manual labor, and billing errors — saving both time and operational costs.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3063240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3063240"/>
            <a:ext cx="91440" cy="1645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3291840"/>
            <a:ext cx="594360" cy="59436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291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40880" y="3246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0" y="36576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on admissions, treatments, and revenue to support better hospital management decisions.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for the next version of HMS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43000"/>
            <a:ext cx="2011680" cy="7315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371600"/>
            <a:ext cx="685800" cy="68580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278892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apps for patients to book appointments, view records, and receive reminders on the go.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41448" y="114300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1143000"/>
            <a:ext cx="2011680" cy="7315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9816" y="1371600"/>
            <a:ext cx="685800" cy="6858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9816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532888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Portal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51176" y="278892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self-service portal for appointment scheduling, eliminating phone queue hassles.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08576" y="114300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1143000"/>
            <a:ext cx="20116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66944" y="1371600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00016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18304" y="278892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database to AWS/Azure for 24/7 availability, automatic backups, and disaster recovery.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75704" y="114300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75704" y="1143000"/>
            <a:ext cx="201168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34072" y="1371600"/>
            <a:ext cx="685800" cy="6858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34072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67144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Diagnostics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85432" y="278892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to suggest probable diagnoses based on patient symptoms and historical data patterns.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Hospital Management System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Anubhav Sachan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88720"/>
            <a:ext cx="685800" cy="7772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8872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280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2801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 replaces slow, error-prone manual records with a fast, automated database-driven solution.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03120"/>
            <a:ext cx="685800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0312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194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1945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actual hospital challenges: appointments, billing, patient records, and role-based access.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17520"/>
            <a:ext cx="6858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1752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Database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1089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satisfies 1NF, 2NF, and 3NF — eliminating redundancy and ensuring data integrity.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9319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931920"/>
            <a:ext cx="6858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3192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5156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Structured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29000" y="40233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allows future expansion with new departments, features, and cloud integration.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"Database is normalized up to 3NF  •  Used JOINs for relational queries  •  System is scalable and structured"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1976D2">
              <a:alpha val="25000"/>
            </a:srgbClr>
          </a:solidFill>
          <a:ln w="12700">
            <a:solidFill>
              <a:srgbClr val="1976D2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6576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9144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688086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3200400" y="237744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5146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DBMS Project  |  Anubhav Sachan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2286000" cy="548640"/>
          </a:xfrm>
          <a:prstGeom prst="rect">
            <a:avLst/>
          </a:prstGeom>
          <a:solidFill>
            <a:srgbClr val="1976D2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86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"Database normalized to 3NF"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3886200"/>
            <a:ext cx="2286000" cy="548640"/>
          </a:xfrm>
          <a:prstGeom prst="rect">
            <a:avLst/>
          </a:prstGeom>
          <a:solidFill>
            <a:srgbClr val="1976D2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886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"Used JOINs for relational queries"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3886200"/>
            <a:ext cx="2286000" cy="548640"/>
          </a:xfrm>
          <a:prstGeom prst="rect">
            <a:avLst/>
          </a:prstGeom>
          <a:solidFill>
            <a:srgbClr val="1976D2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886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"Scalable &amp; structured system"</a:t>
            </a:r>
            <a:endParaRPr lang="en-US" sz="9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33</TotalTime>
  <Words>1731</Words>
  <Application>Microsoft Office PowerPoint</Application>
  <PresentationFormat>On-screen Show (16:9)</PresentationFormat>
  <Paragraphs>416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Century Gothic</vt:lpstr>
      <vt:lpstr>Courier New</vt:lpstr>
      <vt:lpstr>Segoe UI Emoji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subject>PptxGenJS Presentation</dc:subject>
  <dc:creator>Anubhav Sachan</dc:creator>
  <cp:lastModifiedBy>Anubhav Sachan</cp:lastModifiedBy>
  <cp:revision>3</cp:revision>
  <dcterms:created xsi:type="dcterms:W3CDTF">2026-04-21T18:19:48Z</dcterms:created>
  <dcterms:modified xsi:type="dcterms:W3CDTF">2026-04-23T07:08:28Z</dcterms:modified>
</cp:coreProperties>
</file>